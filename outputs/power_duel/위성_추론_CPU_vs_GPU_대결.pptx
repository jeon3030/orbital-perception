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Noto Sans CJK JP"/>
              </a:rPr>
              <a:t>위성 온보드 추론, CPU vs GPU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2EA043"/>
                </a:solidFill>
                <a:latin typeface="Noto Sans CJK JP"/>
              </a:rPr>
              <a:t>전력·속도 실측과 배포 판단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97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C9D1D9"/>
                </a:solidFill>
                <a:latin typeface="Noto Sans CJK JP"/>
              </a:rPr>
              <a:t>Jetson Orin Nano · Sentinel-2 20m 재해 세그(산불·홍수)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C9D1D9"/>
                </a:solidFill>
                <a:latin typeface="Noto Sans CJK JP"/>
              </a:rPr>
              <a:t>측정 기준: idle 4.9W 차감 · 정상상태 in-process · PowerMeter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7606A"/>
                </a:solidFill>
                <a:latin typeface="Noto Sans CJK JP"/>
              </a:rPr>
              <a:t>orbital-perception / merge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D1117"/>
                </a:solidFill>
                <a:latin typeface="Noto Sans CJK JP"/>
              </a:rPr>
              <a:t>핵심 질문 — 20m 위성 영상, CPU와 GPU 중 무엇인가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700" b="1">
                <a:solidFill>
                  <a:srgbClr val="2EA043"/>
                </a:solidFill>
                <a:latin typeface="Noto Sans CJK JP"/>
              </a:rPr>
              <a:t>① 인식률은 CPU/GPU로 갈리지 않는다 (실측 확인)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24292F"/>
                </a:solidFill>
                <a:latin typeface="Noto Sans CJK JP"/>
              </a:rPr>
              <a:t>    같은 모델·가중치 → 같은 출력. 울진 장면서 GPU↔CPU 결과 차이는 345,897픽셀 중 단 3픽셀(0.0009%, 경계 부동소수점).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700" b="1">
                <a:solidFill>
                  <a:srgbClr val="E5484D"/>
                </a:solidFill>
                <a:latin typeface="Noto Sans CJK JP"/>
              </a:rPr>
              <a:t>② 그러므로 선택 기준은 순수하게 '효율' — 위성에선 곧 전력·열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24292F"/>
                </a:solidFill>
                <a:latin typeface="Noto Sans CJK JP"/>
              </a:rPr>
              <a:t>    우주는 태양광·배터리로 전력이 빠듯하고, 진공이라 열을 복사로만 버린다.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24292F"/>
                </a:solidFill>
                <a:latin typeface="Noto Sans CJK JP"/>
              </a:rPr>
              <a:t>    → 의미 있는 지표는 latency가 아니라 mJ/frame(한 장당 에너지).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700" b="1">
                <a:solidFill>
                  <a:srgbClr val="0D1117"/>
                </a:solidFill>
                <a:latin typeface="Noto Sans CJK JP"/>
              </a:rPr>
              <a:t>③ 20m 운영점은 결코 작지 않다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24292F"/>
                </a:solidFill>
                <a:latin typeface="Noto Sans CJK JP"/>
              </a:rPr>
              <a:t>    20m는 픽셀이 넓어 데이터가 관리 가능하지만, S2 풀타일 1장 = 5490² ≈ 30MP.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24292F"/>
                </a:solidFill>
                <a:latin typeface="Noto Sans CJK JP"/>
              </a:rPr>
              <a:t>    실제 위성은 이 스와스를 연속 처리한다 → 픽셀 많고 대상 큼 = GPU가 빛나는 일.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D1117"/>
                </a:solidFill>
                <a:latin typeface="Noto Sans CJK JP"/>
              </a:rPr>
              <a:t>실험 설계 — 같은 저울, 공정한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0D1117"/>
                </a:solidFill>
                <a:latin typeface="Noto Sans CJK JP"/>
              </a:rPr>
              <a:t>측정 도구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600" b="0">
                <a:solidFill>
                  <a:srgbClr val="24292F"/>
                </a:solidFill>
                <a:latin typeface="Noto Sans CJK JP"/>
              </a:rPr>
              <a:t>    · 같은 세그 모델(TinyUNet)을 CPU와 GPU로만 바꿔 실행 — merge의 --device 경로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600" b="0">
                <a:solidFill>
                  <a:srgbClr val="24292F"/>
                </a:solidFill>
                <a:latin typeface="Noto Sans CJK JP"/>
              </a:rPr>
              <a:t>    · PowerMeter로 보드 총전력 샘플링, idle 차감해 dynamic(순수) 에너지도 산출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600" b="0">
                <a:solidFill>
                  <a:srgbClr val="24292F"/>
                </a:solidFill>
                <a:latin typeface="Noto Sans CJK JP"/>
              </a:rPr>
              <a:t>    · 워밍업(모델로딩·CUDA초기화) 제외한 정상상태만 측정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0D1117"/>
                </a:solidFill>
                <a:latin typeface="Noto Sans CJK JP"/>
              </a:rPr>
              <a:t>크기 스윕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600" b="0">
                <a:solidFill>
                  <a:srgbClr val="24292F"/>
                </a:solidFill>
                <a:latin typeface="Noto Sans CJK JP"/>
              </a:rPr>
              <a:t>    · 0.07MP(256²) → 9.4MP(3072²)까지 쓸어 크기 의존성·교차점 탐색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600" b="0">
                <a:solidFill>
                  <a:srgbClr val="24292F"/>
                </a:solidFill>
                <a:latin typeface="Noto Sans CJK JP"/>
              </a:rPr>
              <a:t>    · CPU는 대형서 프레임당 수십초→1536²까지, GPU는 4.2MP(2048²)까지 측정, 30MP는 멱함수 외삽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2EA043"/>
                </a:solidFill>
                <a:latin typeface="Noto Sans CJK JP"/>
              </a:rPr>
              <a:t>정직성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600" b="0">
                <a:solidFill>
                  <a:srgbClr val="57606A"/>
                </a:solidFill>
                <a:latin typeface="Noto Sans CJK JP"/>
              </a:rPr>
              <a:t>    · 정상상태 기준. GPU를 프레임마다 껐다 켜는 극저듀티라면 기동에너지는 별도 고려.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D1117"/>
                </a:solidFill>
                <a:latin typeface="Noto Sans CJK JP"/>
              </a:rPr>
              <a:t>실측 결과 — 에너지와 속도, 전 구간 GPU 우세</a:t>
            </a:r>
          </a:p>
        </p:txBody>
      </p:sp>
      <p:pic>
        <p:nvPicPr>
          <p:cNvPr id="3" name="Picture 2" descr="power_du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11521440" cy="501880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D1117"/>
                </a:solidFill>
                <a:latin typeface="Noto Sans CJK JP"/>
              </a:rPr>
              <a:t>숫자로 본 결론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76809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CJK JP"/>
                        </a:rPr>
                        <a:t>장면(MP)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CJK JP"/>
                        </a:rPr>
                        <a:t>CPU ms/f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CJK JP"/>
                        </a:rPr>
                        <a:t>GPU ms/f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CJK JP"/>
                        </a:rPr>
                        <a:t>속도배율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CJK JP"/>
                        </a:rPr>
                        <a:t>CPU mJ/f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CJK JP"/>
                        </a:rPr>
                        <a:t>GPU mJ/f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CJK JP"/>
                        </a:rPr>
                        <a:t>에너지 1/n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4292F"/>
                          </a:solidFill>
                          <a:latin typeface="Noto Sans CJK JP"/>
                        </a:rPr>
                        <a:t>0.07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4292F"/>
                          </a:solidFill>
                          <a:latin typeface="Noto Sans CJK JP"/>
                        </a:rPr>
                        <a:t>371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4292F"/>
                          </a:solidFill>
                          <a:latin typeface="Noto Sans CJK JP"/>
                        </a:rPr>
                        <a:t>34.1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4292F"/>
                          </a:solidFill>
                          <a:latin typeface="Noto Sans CJK JP"/>
                        </a:rPr>
                        <a:t>11×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4292F"/>
                          </a:solidFill>
                          <a:latin typeface="Noto Sans CJK JP"/>
                        </a:rPr>
                        <a:t>2533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4292F"/>
                          </a:solidFill>
                          <a:latin typeface="Noto Sans CJK JP"/>
                        </a:rP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4292F"/>
                          </a:solidFill>
                          <a:latin typeface="Noto Sans CJK JP"/>
                        </a:rPr>
                        <a:t>14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4292F"/>
                          </a:solidFill>
                          <a:latin typeface="Noto Sans CJK JP"/>
                        </a:rPr>
                        <a:t>0.26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4292F"/>
                          </a:solidFill>
                          <a:latin typeface="Noto Sans CJK JP"/>
                        </a:rPr>
                        <a:t>880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4292F"/>
                          </a:solidFill>
                          <a:latin typeface="Noto Sans CJK JP"/>
                        </a:rPr>
                        <a:t>97.0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4292F"/>
                          </a:solidFill>
                          <a:latin typeface="Noto Sans CJK JP"/>
                        </a:rPr>
                        <a:t>9×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4292F"/>
                          </a:solidFill>
                          <a:latin typeface="Noto Sans CJK JP"/>
                        </a:rPr>
                        <a:t>5884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4292F"/>
                          </a:solidFill>
                          <a:latin typeface="Noto Sans CJK JP"/>
                        </a:rPr>
                        <a:t>740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4292F"/>
                          </a:solidFill>
                          <a:latin typeface="Noto Sans CJK JP"/>
                        </a:rPr>
                        <a:t>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4292F"/>
                          </a:solidFill>
                          <a:latin typeface="Noto Sans CJK JP"/>
                        </a:rPr>
                        <a:t>0.59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4292F"/>
                          </a:solidFill>
                          <a:latin typeface="Noto Sans CJK JP"/>
                        </a:rPr>
                        <a:t>1920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4292F"/>
                          </a:solidFill>
                          <a:latin typeface="Noto Sans CJK JP"/>
                        </a:rPr>
                        <a:t>219.6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4292F"/>
                          </a:solidFill>
                          <a:latin typeface="Noto Sans CJK JP"/>
                        </a:rPr>
                        <a:t>9×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4292F"/>
                          </a:solidFill>
                          <a:latin typeface="Noto Sans CJK JP"/>
                        </a:rPr>
                        <a:t>13027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4292F"/>
                          </a:solidFill>
                          <a:latin typeface="Noto Sans CJK JP"/>
                        </a:rPr>
                        <a:t>1689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4292F"/>
                          </a:solidFill>
                          <a:latin typeface="Noto Sans CJK JP"/>
                        </a:rPr>
                        <a:t>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4292F"/>
                          </a:solidFill>
                          <a:latin typeface="Noto Sans CJK JP"/>
                        </a:rPr>
                        <a:t>1.05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4292F"/>
                          </a:solidFill>
                          <a:latin typeface="Noto Sans CJK JP"/>
                        </a:rPr>
                        <a:t>3293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4292F"/>
                          </a:solidFill>
                          <a:latin typeface="Noto Sans CJK JP"/>
                        </a:rPr>
                        <a:t>380.1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4292F"/>
                          </a:solidFill>
                          <a:latin typeface="Noto Sans CJK JP"/>
                        </a:rPr>
                        <a:t>9×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4292F"/>
                          </a:solidFill>
                          <a:latin typeface="Noto Sans CJK JP"/>
                        </a:rPr>
                        <a:t>21639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4292F"/>
                          </a:solidFill>
                          <a:latin typeface="Noto Sans CJK JP"/>
                        </a:rPr>
                        <a:t>2973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4292F"/>
                          </a:solidFill>
                          <a:latin typeface="Noto Sans CJK JP"/>
                        </a:rPr>
                        <a:t>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4292F"/>
                          </a:solidFill>
                          <a:latin typeface="Noto Sans CJK JP"/>
                        </a:rPr>
                        <a:t>2.36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4292F"/>
                          </a:solidFill>
                          <a:latin typeface="Noto Sans CJK JP"/>
                        </a:rPr>
                        <a:t>13070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4292F"/>
                          </a:solidFill>
                          <a:latin typeface="Noto Sans CJK JP"/>
                        </a:rPr>
                        <a:t>884.7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4292F"/>
                          </a:solidFill>
                          <a:latin typeface="Noto Sans CJK JP"/>
                        </a:rPr>
                        <a:t>15×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4292F"/>
                          </a:solidFill>
                          <a:latin typeface="Noto Sans CJK JP"/>
                        </a:rPr>
                        <a:t>59782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4292F"/>
                          </a:solidFill>
                          <a:latin typeface="Noto Sans CJK JP"/>
                        </a:rPr>
                        <a:t>6972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4292F"/>
                          </a:solidFill>
                          <a:latin typeface="Noto Sans CJK JP"/>
                        </a:rPr>
                        <a:t>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503920" y="155448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0D1117"/>
                </a:solidFill>
                <a:latin typeface="Noto Sans CJK JP"/>
              </a:rPr>
              <a:t>30MP 운영점 (외삽)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2EA043"/>
                </a:solidFill>
                <a:latin typeface="Noto Sans CJK JP"/>
              </a:rPr>
              <a:t>· 에너지: GPU가 CPU의 1/5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2EA043"/>
                </a:solidFill>
                <a:latin typeface="Noto Sans CJK JP"/>
              </a:rPr>
              <a:t>· 속도: GPU가 11배 빠름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24292F"/>
                </a:solidFill>
                <a:latin typeface="Noto Sans CJK JP"/>
              </a:rPr>
              <a:t>· CPU 104.0s/장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24292F"/>
                </a:solidFill>
                <a:latin typeface="Noto Sans CJK JP"/>
              </a:rPr>
              <a:t>  vs GPU 9.35s/장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24292F"/>
                </a:solidFill>
                <a:latin typeface="Noto Sans CJK JP"/>
              </a:rPr>
              <a:t/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0D1117"/>
                </a:solidFill>
                <a:latin typeface="Noto Sans CJK JP"/>
              </a:rPr>
              <a:t>교차점?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24292F"/>
                </a:solidFill>
                <a:latin typeface="Noto Sans CJK JP"/>
              </a:rPr>
              <a:t>· 없음 — 0.07MP부터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24292F"/>
                </a:solidFill>
                <a:latin typeface="Noto Sans CJK JP"/>
              </a:rPr>
              <a:t>  이미 GPU 우세,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24292F"/>
                </a:solidFill>
                <a:latin typeface="Noto Sans CJK JP"/>
              </a:rPr>
              <a:t>  격차는 크기와 함께 확대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Noto Sans CJK JP"/>
              </a:rPr>
              <a:t>결론 및 배포 권고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700" b="1">
                <a:solidFill>
                  <a:srgbClr val="2EA043"/>
                </a:solidFill>
                <a:latin typeface="Noto Sans CJK JP"/>
              </a:rPr>
              <a:t>결론: 우리 20m 위성 운영점에서 GPU가 정답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Noto Sans CJK JP"/>
              </a:rPr>
              <a:t>    에너지·속도 모두 전 구간 GPU 우세, 30MP 운영점에서 격차 최대. 인식률 손실 0.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Noto Sans CJK JP"/>
              </a:rPr>
              <a:t/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700" b="1">
                <a:solidFill>
                  <a:srgbClr val="79C0FF"/>
                </a:solidFill>
                <a:latin typeface="Noto Sans CJK JP"/>
              </a:rPr>
              <a:t>온보드 배포 로드맵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Noto Sans CJK JP"/>
              </a:rPr>
              <a:t>    ① GPU 경로 확정 (완료 — merge --device cuda, 웹 데모 CUDA 가동)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Noto Sans CJK JP"/>
              </a:rPr>
              <a:t>    ② DLA + INT8 TensorRT 로 한 단계 더 — 고정 CNN을 최저전력으로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Noto Sans CJK JP"/>
              </a:rPr>
              <a:t>    ③ duty-cycle 게이팅 — 촬영창에만 가속기 켜고 대기 시 끄기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Noto Sans CJK JP"/>
              </a:rPr>
              <a:t/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700" b="1">
                <a:solidFill>
                  <a:srgbClr val="2EA043"/>
                </a:solidFill>
                <a:latin typeface="Noto Sans CJK JP"/>
              </a:rPr>
              <a:t>한 줄 요약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Noto Sans CJK JP"/>
              </a:rPr>
              <a:t>    20m·대면적 재해 세그는 GPU가 더 빠르고 더 적은 전기로, 같은 정확도로 처리한다.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